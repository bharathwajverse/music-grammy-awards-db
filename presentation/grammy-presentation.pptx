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1: Project Title &amp; Overview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Executive Overview &amp; System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5C518"/>
                </a:solidFill>
                <a:latin typeface="Segoe UI"/>
              </a:defRPr>
            </a:pPr>
            <a:r>
              <a:t>GRAMMY AWARDS INFORMATION &amp; ANALYTICS SYSTEM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A Distributed Multi-Database NoSQL Architecture for Historical &amp; Operational Award Governance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Recording Academy (1959–Present)  •  MongoDB Atlas Cluster0  •  WiredTiger Storage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4728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ACADEMIC COURSE</a:t>
            </a:r>
          </a:p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  <a:latin typeface="Segoe UI"/>
              </a:defRPr>
            </a:pPr>
            <a:r>
              <a:t>Advanced Database Management Systems (ADBMS) — Graduate Capstone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33756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44728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ENGINEERING TEAM</a:t>
            </a:r>
          </a:p>
          <a:p>
            <a:pPr>
              <a:spcBef>
                <a:spcPts val="400"/>
              </a:spcBef>
              <a:defRPr sz="1100" b="0">
                <a:solidFill>
                  <a:srgbClr val="F8FAFC"/>
                </a:solidFill>
                <a:latin typeface="Segoe UI"/>
              </a:defRPr>
            </a:pPr>
            <a:r>
              <a:t>Five-Member Distributed Database Team (Members 1–5)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33756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344728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PRIMARY DATABASE ENGINE</a:t>
            </a:r>
          </a:p>
          <a:p>
            <a:pPr>
              <a:spcBef>
                <a:spcPts val="400"/>
              </a:spcBef>
              <a:defRPr sz="1100" b="0">
                <a:solidFill>
                  <a:srgbClr val="F8FAFC"/>
                </a:solidFill>
                <a:latin typeface="Segoe UI"/>
              </a:defRPr>
            </a:pPr>
            <a:r>
              <a:t>MongoDB Atlas (Cluster0, 3-Node Replica Set, WiredTiger Engine)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1032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HISTORICAL SCOPE</a:t>
            </a:r>
          </a:p>
          <a:p>
            <a:pPr>
              <a:spcBef>
                <a:spcPts val="400"/>
              </a:spcBef>
              <a:defRPr sz="1100" b="0">
                <a:solidFill>
                  <a:srgbClr val="F8FAFC"/>
                </a:solidFill>
                <a:latin typeface="Segoe UI"/>
              </a:defRPr>
            </a:pPr>
            <a:r>
              <a:t>National Academy of Recording Arts &amp; Sciences (1959–Present)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480060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491032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VERIFICATION STATUS</a:t>
            </a:r>
          </a:p>
          <a:p>
            <a:pPr>
              <a:spcBef>
                <a:spcPts val="400"/>
              </a:spcBef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100% Certified across 670 Automated Tests (629 baseline + 41 capstone)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4800600"/>
            <a:ext cx="3429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4910328"/>
            <a:ext cx="3154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Segoe UI"/>
              </a:defRPr>
            </a:pPr>
            <a:r>
              <a:t>SYSTEM ARCHITECTURE SCALE</a:t>
            </a:r>
          </a:p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  <a:latin typeface="Segoe UI"/>
              </a:defRPr>
            </a:pPr>
            <a:r>
              <a:t>5 Databases  |  50 Collections  |  5,190 Certified Documents  |  44 B+ Tree Indexes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2: Problem Statement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The Database Challenges of Institutional Music Award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2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1. Domain Heterogeneity &amp; Complex Polymorphism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A single recording (e.g., Album of the Year) involves lead vocalists, featured artists, mixing engineers, producers, and songwriters.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Relational designs suffer from severe join explosion (8+ table joins for credit resolution).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Naive single-document NoSQL designs suffer from unbounded array growth exceeding the 16 MB BSON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2. Microservice Multi-Database Boundaries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Ceremony logistics, category bylaws, nomination balloting, winner certification, and creator discographies require isolated domains.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Cloud multi-tenant tiers (MongoDB Atlas M0) prohibit server-side cross-database $lookup operations (AtlasError 8000).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Demands an application-level distributed join federation architecture.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3. Data Integrity vs. Analytical Read Performance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Strict normalization (3NF/BCNF/4NF/5NF) is mandatory to eliminate update anomalies during voter tabulation.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Real-time analytics and historical reporting require sub-second read latencies.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Requires academically justified controlled denormalization with 0 orphan 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4. Multi-Document ACID Atomicity Under High Scrutiny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Official certification requires all-or-nothing multi-document atomicity across ballots, trophy inventory, and accounting audit trails.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Demands snapshot isolation and majority write concern on distributed replica sets.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Must achieve zero state corruption and zero orphan artifacts on transaction abort.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3: Project Objectives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Engineering &amp; Theoretical Goals Aligned with ADBMS Modules 1–10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3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1. Distributed Architecture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Partition the domain into 5 physically separate, logically federated MongoDB databases satisfying all mandatory quotas (50 collections, 5,190 documents, &gt;= 12 fields/doc).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2. Conceptual &amp; Mathematical Modeling (M1–3)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Construct formal EER model with specialization hierarchies, union types, and conceptual aggregation. Formulate 50 relational schemas, 10 relational algebra operations (including relational division), Armstrong minimal covers, and 1NF–5NF normalization proofs.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74136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65576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3. Transactional Integrity &amp; Concurrency (M4–5)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Implement multi-document ACID transactions with snapshot isolation; simulate 2PL locking, Wait-For Graph (WFG) deadlock detection, and analyze WiredTiger MVCC document-level concurrency.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52544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43984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4. Physical Storage &amp; Recovery (M6–7)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Empirically introspect WiredTiger Slotted-Page mechanics, Snappy compression (32.9% savings), cache hit ratios (&gt;= 99.5%), RAID write penalties, and execute ARIES-compliant crash drills with bitwise SHA-256 parity.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30952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2239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5. NoSQL Querying, Aggregation &amp; Federation (M8–10)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Deploy strict $jsonSchema validators across all 50 collections, build 44 custom indexes converting COLLSCAN to IXSCAN, execute multi-stage aggregations, and implement sub-15ms cross-database joins.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4: Real-World Data &amp; Provenance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Authoritative Acquisition, Traceability &amp; Legal Licensing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4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C518"/>
                </a:solidFill>
                <a:latin typeface="Segoe UI"/>
              </a:defRPr>
            </a:pPr>
            <a:r>
              <a:t>Primary Authoritative Data Sources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1. Recording Academy Official Archives (grammy.com)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Historical ceremony records (Editions 1–67), category rulebooks, and certified winner rosters.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2. Kaggle Grammy Awards Dataset (Robyn Ritchie)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Comprehensive open tabular compilation of historical nominations and outcomes (1958–2024).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3. MetaBrainz MusicBrainz Database (musicbrainz.org)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Canonical creator directory, Artist GIDs (MBID), legal entity names, and group memberships.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4. Nielsen Media Research &amp; Press Bulletins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Certified telecast viewership ratings, household shares, and broadcast logistics (Variety, Billboard).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5. Wikimedia Foundation / Wikidata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Geocoded coordinates and architectural metadata for hosting venues.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C518"/>
                </a:solidFill>
                <a:latin typeface="Segoe UI"/>
              </a:defRPr>
            </a:pPr>
            <a:r>
              <a:t>Universal Traceability &amp; IP Licensing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Immutable Lineage Tracking (_source_provenance):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Every stored document in all 50 collections embeds an audit subdocument recording: source_id, license_type, provenance_tier, acquired_timestamp, and attribution.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Legal Doctrines &amp; Statutory Compliance:</a:t>
            </a:r>
          </a:p>
          <a:p>
            <a:pPr>
              <a:spcBef>
                <a:spcPts val="400"/>
              </a:spcBef>
              <a:defRPr sz="1050" b="1">
                <a:solidFill>
                  <a:srgbClr val="D4AF37"/>
                </a:solidFill>
              </a:defRPr>
            </a:pPr>
            <a:r>
              <a:t>• Feist Publications v. Rural (499 U.S. 340):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  Factual award rosters and historical nominations are non-copyrightable facts under US copyright law.</a:t>
            </a:r>
          </a:p>
          <a:p>
            <a:pPr>
              <a:spcBef>
                <a:spcPts val="400"/>
              </a:spcBef>
              <a:defRPr sz="1050" b="1">
                <a:solidFill>
                  <a:srgbClr val="D4AF37"/>
                </a:solidFill>
              </a:defRPr>
            </a:pPr>
            <a:r>
              <a:t>• Creative Commons Zero (CC0 1.0):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  Open tabular datasets ingested under universal public domain dedication.</a:t>
            </a:r>
          </a:p>
          <a:p>
            <a:pPr>
              <a:spcBef>
                <a:spcPts val="400"/>
              </a:spcBef>
              <a:defRPr sz="1050" b="1">
                <a:solidFill>
                  <a:srgbClr val="D4AF37"/>
                </a:solidFill>
              </a:defRPr>
            </a:pPr>
            <a:r>
              <a:t>• Non-Commercial Fair Use (17 U.S.C. § 107):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  Bylaw and category lineage texts analyzed strictly for academic educational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5: System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Distributed Microservice Data Fabric &amp; Application-Level Join Federation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5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6858000" cy="4754880"/>
          </a:xfrm>
          <a:prstGeom prst="roundRect">
            <a:avLst/>
          </a:prstGeom>
          <a:solidFill>
            <a:srgbClr val="0A0F1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7DD3FC"/>
                </a:solidFill>
                <a:latin typeface="Consolas"/>
              </a:defRPr>
            </a:pPr>
            <a:r>
              <a:t>+-------------------------------------------------------------+</a:t>
            </a:r>
            <a:br/>
            <a:r>
              <a:t>|              LOGICAL GRAMMY SYSTEM DATA FABRIC              |</a:t>
            </a:r>
            <a:br/>
            <a:r>
              <a:t>+-------------------------------------------------------------+</a:t>
            </a:r>
            <a:br/>
            <a:r>
              <a:t>       |                  |                |               |</a:t>
            </a:r>
            <a:br/>
            <a:r>
              <a:t>       v                  v                v               v</a:t>
            </a:r>
            <a:br/>
            <a:r>
              <a:t>+--------------+   +--------------+ +--------------+ +--------------+</a:t>
            </a:r>
            <a:br/>
            <a:r>
              <a:t>|history_db    |   |categories_db | |creators_db   | |winners_db    |</a:t>
            </a:r>
            <a:br/>
            <a:r>
              <a:t>| - ceremonies |   | - categories | | - artists    | | - winners    |</a:t>
            </a:r>
            <a:br/>
            <a:r>
              <a:t>| - venues     |   | - bylaws     | | - producers  | | - trophies   |</a:t>
            </a:r>
            <a:br/>
            <a:r>
              <a:t>| (10 colls)   |   | (10 colls)   | | (10 colls)   | | (10 colls)   |</a:t>
            </a:r>
            <a:br/>
            <a:r>
              <a:t>+--------------+   +--------------+ +--------------+ +--------------+</a:t>
            </a:r>
            <a:br/>
            <a:r>
              <a:t>        \                 |               /               /</a:t>
            </a:r>
            <a:br/>
            <a:r>
              <a:t>         \                v              /               /</a:t>
            </a:r>
            <a:br/>
            <a:r>
              <a:t>          \       +---------------------+               /</a:t>
            </a:r>
            <a:br/>
            <a:r>
              <a:t>           +-----&gt;|nominations_db       |&lt;-------------+</a:t>
            </a:r>
            <a:br/>
            <a:r>
              <a:t>                  | - nomination_entries|</a:t>
            </a:r>
            <a:br/>
            <a:r>
              <a:t>                  | - nominated_works   |</a:t>
            </a:r>
            <a:br/>
            <a:r>
              <a:t>                  | (10 colls)          |</a:t>
            </a:r>
            <a:br/>
            <a:r>
              <a:t>                  +---------------------+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417320"/>
            <a:ext cx="368777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54480"/>
            <a:ext cx="3413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Microservice Data Fabric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Autonomous Physical Storage: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5 separate MongoDB databases enforce strict micro-domain isolation and clear team member ownership boundaries.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Cloud M0 Limitations: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MongoDB Atlas free-tier M0 prohibits server-side cross-database $lookup aggregations (AtlasError 8000).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PyMongo Join Federation: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Implemented client-side batch join federation: querying peer databases via indexed $in filters over deterministic string keys.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Sub-15ms Latency: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Federated joins achieve query execution latencies below 15 ms with 0 orphan records across 11 foreign pathways.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6: Five Dedicated Databases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Autonomous Physical Storage Architecture &amp; Ownership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6 of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3108960"/>
                <a:gridCol w="914400"/>
                <a:gridCol w="1005840"/>
                <a:gridCol w="2681935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Database Identifier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Lead Member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Academic Domain Scope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Collections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Total Docs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Primary Key Regex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grammy_history_db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Ceremonies, venues, telecast broadcasters, ratings, hosts, eras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645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Consolas"/>
                        </a:defRPr>
                      </a:pPr>
                      <a:r>
                        <a:t>^CEREMONY_\d{3}$, ^VEN_[A-Z0-9_]+$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grammy_categories_db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 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Award fields, category lineages, eligibility rules, voting bylaws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Consolas"/>
                        </a:defRPr>
                      </a:pPr>
                      <a:r>
                        <a:t>^CAT_[A-Z0-9_]+$, ^FLD_[A-Z0-9_]+$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grammy_nominations_db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Nominated works, credits, submissions, screening batches, audits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Consolas"/>
                        </a:defRPr>
                      </a:pPr>
                      <a:r>
                        <a:t>^NOM_\d{3}_[A-Z0-9_]+$, ^WRK_[A-Z0-9_]+$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grammy_winners_db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 4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Certified winners, Big Four sweeps, speeches, statuette tracking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Consolas"/>
                        </a:defRPr>
                      </a:pPr>
                      <a:r>
                        <a:t>^WIN_[A-Z0-9_]+$, ^TRP_[A-Z0-9_]+$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grammy_creators_db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Artists, producers, engineers, songwriters, record labels, bands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Consolas"/>
                        </a:defRPr>
                      </a:pPr>
                      <a:r>
                        <a:t>^CRT_[A-Z0-9_]+$, ^LBL_[A-Z0-9_]+$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5C518"/>
                          </a:solidFill>
                          <a:latin typeface="Consolas"/>
                        </a:defRPr>
                      </a:pPr>
                      <a:r>
                        <a:t>System Totals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5 Members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Comprehensive Institutional Award Governance Lifecycle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5,190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5C518"/>
                          </a:solidFill>
                          <a:latin typeface="Consolas"/>
                        </a:defRPr>
                      </a:pPr>
                      <a:r>
                        <a:t>100% Deterministic &amp; Regex-Validated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egoe UI"/>
              </a:defRPr>
            </a:pPr>
            <a:r>
              <a:t>Strict Academic Quota Enforcement Across All Databases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Collection Quota: Exactly 10 collections per database (50 collections system-wide, 100% compliant).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Document Quota: Minimum 50 documents per collection (actual range: 50 to 500 docs per collection, totaling 5,190 documents).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Field Density: Minimum 10 meaningful domain fields per document (achieved 12 to 13 fields across 100% of collections).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7: Conceptual EER Design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Enhanced Entity-Relationship Constructs (Elmasri &amp; Navathe Standards)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7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Strong vs. Weak Entity Distinction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Strong Entities: CEREMONY, VENUE, FIELD, CATEGORY, WORK, and ARTIST exist as independent strong entities with natural business identifiers.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Weak Entity: VIEWERSHIP_RATING is identified through its identifying relationship with parent CEREMONY, having partial key broadcast_market.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Specialization &amp; Generalization Hierarchies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Two-Tier Creator Hierarchy: CREATOR generalizes into INDIVIDUAL_CREATOR and ORGANIZATIONAL_CREATOR with disjoint [d] and total [t] constraints.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Overlapping Craft Roles: INDIVIDUAL_CREATOR specializes into overlapping [o] roles: ARTIST, PRODUCER, AUDIO_ENGINEER, and SONGWRITER.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Category / Union Types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AWARD_RECIPIENT = ARTIST ∪ MUSICAL_GROUP models composite legal entities eligible to receive competitive Grammy statuettes.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Represents a selective union type where instances inherit attributes from their specific member subtype.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Conceptual Aggregation &amp; Artifacts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Conceptual Aggregation: Modeled as AGGREGATE(CREATOR, WORK, AWARD_CATEGORY), treated as a higher-level composite entity related to NOMINATION_CREDIT.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Formal Diagrams: Preserved in eer/grammy-eer.drawio and rendered at 300 DPI in eer/grammy-eer.png.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8: Relational Model &amp; Relational Algebra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Formal Relational Schemas &amp; Mathematical Query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8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Relational Schema Translation Architecture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50 fully specified relational schemas mapped from the EER model, preserving primary, candidate, and foreign key constraints.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• M:N relationships (e.g., creator collaborations, multi-artist credits) mapped to associative junction relations with composite primary 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728655" cy="3337560"/>
          </a:xfrm>
          <a:prstGeom prst="roundRect">
            <a:avLst/>
          </a:prstGeom>
          <a:solidFill>
            <a:srgbClr val="0A0F1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36289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  <a:latin typeface="Segoe UI"/>
              </a:defRPr>
            </a:pPr>
            <a:r>
              <a:t>Rigorous Relational Algebra Formulations (Module 1 Verification)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1. Selection (σ) — Filter ceremonies broadcast on CBS after 1980:</a:t>
            </a:r>
          </a:p>
          <a:p>
            <a:pPr>
              <a:spcBef>
                <a:spcPts val="100"/>
              </a:spcBef>
              <a:defRPr sz="1000">
                <a:solidFill>
                  <a:srgbClr val="7DD3FC"/>
                </a:solidFill>
                <a:latin typeface="Consolas"/>
              </a:defRPr>
            </a:pPr>
            <a:r>
              <a:t>    σ_{primary_network='CBS' ∧ broadcast_year &gt; 1980} (CEREMONIES)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2. Projection (π) — Extract unique artist identifiers and genres:</a:t>
            </a:r>
          </a:p>
          <a:p>
            <a:pPr>
              <a:spcBef>
                <a:spcPts val="100"/>
              </a:spcBef>
              <a:defRPr sz="1000">
                <a:solidFill>
                  <a:srgbClr val="7DD3FC"/>
                </a:solidFill>
                <a:latin typeface="Consolas"/>
              </a:defRPr>
            </a:pPr>
            <a:r>
              <a:t>    π_{artist_id, primary_musical_genre} (ARTISTS)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3. Natural Join (⋈) — Correlate nomination entries with nominated works:</a:t>
            </a:r>
          </a:p>
          <a:p>
            <a:pPr>
              <a:spcBef>
                <a:spcPts val="100"/>
              </a:spcBef>
              <a:defRPr sz="1000">
                <a:solidFill>
                  <a:srgbClr val="7DD3FC"/>
                </a:solidFill>
                <a:latin typeface="Consolas"/>
              </a:defRPr>
            </a:pPr>
            <a:r>
              <a:t>    NOMINATION_ENTRIES ⋈_{work_id = work_id} NOMINATED_WORKS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4. Set Difference (−) — Identify nominated works that never won a Grammy statuette:</a:t>
            </a:r>
          </a:p>
          <a:p>
            <a:pPr>
              <a:spcBef>
                <a:spcPts val="100"/>
              </a:spcBef>
              <a:defRPr sz="1000">
                <a:solidFill>
                  <a:srgbClr val="7DD3FC"/>
                </a:solidFill>
                <a:latin typeface="Consolas"/>
              </a:defRPr>
            </a:pPr>
            <a:r>
              <a:t>    π_{work_id} (NOMINATED_WORKS) − π_{winning_work_id} (WINNER_RECORDS)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5. Relational Division (÷) — Find creators nominated in ALL Big Four General Field categories:</a:t>
            </a:r>
          </a:p>
          <a:p>
            <a:pPr>
              <a:spcBef>
                <a:spcPts val="100"/>
              </a:spcBef>
              <a:defRPr sz="1000">
                <a:solidFill>
                  <a:srgbClr val="7DD3FC"/>
                </a:solidFill>
                <a:latin typeface="Consolas"/>
              </a:defRPr>
            </a:pPr>
            <a:r>
              <a:t>    π_{creator_id, category_id} (NOMINATION_CREDITS) ÷ π_{category_id} (BIG_FOUR_CATEGORIES)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9: Normalization &amp; Controlled Denormalization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Mathematical Proofs (1NF to 5NF) vs. High-Performance BSON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9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Mathematical Normalization Proofs (1NF–5NF)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• Armstrong's Minimal Cover (F_min):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Sound &amp; complete inference rules (Reflexivity, Augmentation, Transitivity); eliminated extraneous LHS attributes and redundant FDs.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• 1NF (Domain Atomicity):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Eliminated repeating credit arrays into dedicated relation schemas; all attributes contain atomic scalar values.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• 2NF (Full Dependency):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Eliminated partial key dependencies on composite keys in nomination_credits(nomination_id, creator_id, craft_role).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• 3NF &amp; BCNF (Transitivity Elimination):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Standard BCNF decomposition guaranteeing lossless join (R1 ∩ R2 -&gt; R1) and elimination of update anomalies.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• 4NF &amp; 5NF (MVD &amp; Join Dependencies):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Eliminated multivalued dependencies (X -&gt;&gt; Y | Z) in multi-role creators; verified join dependencies ⋈[R1, ..., Rk].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Academic Justification for Denormalization</a:t>
            </a:r>
          </a:p>
          <a:p>
            <a:pPr>
              <a:spcBef>
                <a:spcPts val="500"/>
              </a:spcBef>
              <a:defRPr sz="1050" b="1">
                <a:solidFill>
                  <a:srgbClr val="D4AF37"/>
                </a:solidFill>
              </a:defRPr>
            </a:pPr>
            <a:r>
              <a:t>• The Join Explosion Penalty: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Pure BCNF requires 8+ table joins for an analytical query, degrading latency to &gt; 300 ms across distributed microservice boundaries.</a:t>
            </a:r>
          </a:p>
          <a:p>
            <a:pPr>
              <a:spcBef>
                <a:spcPts val="500"/>
              </a:spcBef>
              <a:defRPr sz="1050" b="1">
                <a:solidFill>
                  <a:srgbClr val="D4AF37"/>
                </a:solidFill>
              </a:defRPr>
            </a:pPr>
            <a:r>
              <a:t>• Controlled Embedded Subdocuments: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Embedded immutable biographical attributes (stage_name, artist_id) directly inside nomination_entries to guarantee atomic single-read latency.</a:t>
            </a:r>
          </a:p>
          <a:p>
            <a:pPr>
              <a:spcBef>
                <a:spcPts val="500"/>
              </a:spcBef>
              <a:defRPr sz="1050" b="1">
                <a:solidFill>
                  <a:srgbClr val="D4AF37"/>
                </a:solidFill>
              </a:defRPr>
            </a:pPr>
            <a:r>
              <a:t>• Pre-computed Aggregated Counters: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Maintained total_awards_presented and win_count counters directly on parent ceremony and artist documents.</a:t>
            </a:r>
          </a:p>
          <a:p>
            <a:pPr>
              <a:spcBef>
                <a:spcPts val="500"/>
              </a:spcBef>
              <a:defRPr sz="1050" b="1">
                <a:solidFill>
                  <a:srgbClr val="D4AF37"/>
                </a:solidFill>
              </a:defRPr>
            </a:pPr>
            <a:r>
              <a:t>• Performance Benchmark: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Achieved an 88% reduction in query read latency while maintaining documents strictly under the 16 MB BSON threshold.</a:t>
            </a:r>
          </a:p>
          <a:p>
            <a:pPr>
              <a:spcBef>
                <a:spcPts val="500"/>
              </a:spcBef>
              <a:defRPr sz="1050" b="1">
                <a:solidFill>
                  <a:srgbClr val="D4AF37"/>
                </a:solidFill>
              </a:defRPr>
            </a:pPr>
            <a:r>
              <a:t>• Synchronization Guardrails: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</a:defRPr>
            </a:pPr>
            <a:r>
              <a:t>  Multi-document ACID transactions and event audit triggers prevent update anomalies across denormalized fields.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10: MongoDB Document Modeling &amp; JSON Schema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Hybrid Document Architecture &amp; Server-Side Enforcement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10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Hybrid Document Architecture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Embedded Subdocuments (1:1 &amp; Bounded 1:N):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Employed for immutable and tightly coupled records: _source_provenance, craft credit role specifications, and telecast technical specs. Guarantees single-document atomic reads.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Normalized References (Unbounded 1:N):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Employed for unbounded cardinality (e.g., 500+ nominations per ceremony, 100+ tracks per creator). References use universal deterministic string IDs to eliminate document bloat.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Universal Identifier Standard: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Every primary key conforms to strict deterministic regex patterns (^CEREMONY_\d{3}$, ^CRT_[A-Z0-9_]+$).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Server-Side JSON Schema Validators: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Deployed across all 50 collections on MongoDB Atlas, enforcing data types, regex patterns, required properties, and numeric bounds.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0A0F1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</a:defRPr>
            </a:pPr>
            <a:r>
              <a:t>Server-Side $jsonSchema Validator</a:t>
            </a:r>
          </a:p>
          <a:p>
            <a:pPr>
              <a:spcBef>
                <a:spcPts val="400"/>
              </a:spcBef>
              <a:defRPr sz="950">
                <a:solidFill>
                  <a:srgbClr val="7DD3FC"/>
                </a:solidFill>
                <a:latin typeface="Consolas"/>
              </a:defRPr>
            </a:pPr>
            <a:r>
              <a:t>{</a:t>
            </a:r>
            <a:br/>
            <a:r>
              <a:t>  "$jsonSchema": {</a:t>
            </a:r>
            <a:br/>
            <a:r>
              <a:t>    "bsonType": "object",</a:t>
            </a:r>
            <a:br/>
            <a:r>
              <a:t>    "required": [</a:t>
            </a:r>
            <a:br/>
            <a:r>
              <a:t>      "_id", "ceremony_id", "edition_number",</a:t>
            </a:r>
            <a:br/>
            <a:r>
              <a:t>      "broadcast_year", "_source_provenance"</a:t>
            </a:r>
            <a:br/>
            <a:r>
              <a:t>    ],</a:t>
            </a:r>
            <a:br/>
            <a:r>
              <a:t>    "properties": {</a:t>
            </a:r>
            <a:br/>
            <a:r>
              <a:t>      "ceremony_id": {</a:t>
            </a:r>
            <a:br/>
            <a:r>
              <a:t>        "bsonType": "string",</a:t>
            </a:r>
            <a:br/>
            <a:r>
              <a:t>        "pattern": "^CEREMONY_\\d{3}$"</a:t>
            </a:r>
            <a:br/>
            <a:r>
              <a:t>      },</a:t>
            </a:r>
            <a:br/>
            <a:r>
              <a:t>      "edition_number": {</a:t>
            </a:r>
            <a:br/>
            <a:r>
              <a:t>        "bsonType": "int",</a:t>
            </a:r>
            <a:br/>
            <a:r>
              <a:t>        "minimum": 1,</a:t>
            </a:r>
            <a:br/>
            <a:r>
              <a:t>        "maximum": 100</a:t>
            </a:r>
            <a:br/>
            <a:r>
              <a:t>      },</a:t>
            </a:r>
            <a:br/>
            <a:r>
              <a:t>      "broadcast_year": {</a:t>
            </a:r>
            <a:br/>
            <a:r>
              <a:t>        "bsonType": "int",</a:t>
            </a:r>
            <a:br/>
            <a:r>
              <a:t>        "minimum": 1959,</a:t>
            </a:r>
            <a:br/>
            <a:r>
              <a:t>        "maximum": 2030</a:t>
            </a:r>
            <a:br/>
            <a:r>
              <a:t>      },</a:t>
            </a:r>
            <a:br/>
            <a:r>
              <a:t>      "_source_provenance": {</a:t>
            </a:r>
            <a:br/>
            <a:r>
              <a:t>        "bsonType": "object",</a:t>
            </a:r>
            <a:br/>
            <a:r>
              <a:t>        "required": ["source_id", "license_type"]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11: Comprehensive Data Statistics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Empirical Inventory Across All 5 Databases &amp; 50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11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542032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TOTAL DOCUMENTS CERTIFIED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34D399"/>
                </a:solidFill>
              </a:defRPr>
            </a:pPr>
            <a:r>
              <a:t>5,190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42032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08760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PHYSICAL COLLECTIONS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D4AF37"/>
                </a:solidFill>
              </a:defRPr>
            </a:pPr>
            <a:r>
              <a:t>50 (10 / DB)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17320"/>
            <a:ext cx="2542032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508760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ATTRIBUTE DENSITY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F8FAFC"/>
                </a:solidFill>
              </a:defRPr>
            </a:pPr>
            <a:r>
              <a:t>12–13 Fields/Doc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417320"/>
            <a:ext cx="2542032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508760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FOREIGN REFERENTIAL CLOSURE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34D399"/>
                </a:solidFill>
              </a:defRPr>
            </a:pPr>
            <a:r>
              <a:t>0 Orphans (100%)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260604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2468880"/>
                <a:gridCol w="2499055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Database Identifier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Collections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Total Ingested Documents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Average Documents / Collection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grammy_history_db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645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64.5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grammy_categories_db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65.0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grammy_nominations_db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199.0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grammy_winners_db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98.5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grammy_creators_db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92.0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5C518"/>
                          </a:solidFill>
                          <a:latin typeface="Consolas"/>
                        </a:defRPr>
                      </a:pPr>
                      <a:r>
                        <a:t>TOTAL ACTIVE SYSTEM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5,190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C518"/>
                          </a:solidFill>
                          <a:latin typeface="Segoe UI"/>
                        </a:defRPr>
                      </a:pPr>
                      <a:r>
                        <a:t>103.8 (All &gt;= 50 Quota)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4AF37"/>
                </a:solidFill>
              </a:defRPr>
            </a:pPr>
            <a:r>
              <a:t>Physical Storage &amp; Compression Profile (WiredTiger Engine)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Uncompressed Logical BSON Size: 4.06 MB  |  Compressed WiredTiger On-Disk Size: 2.72 MB  (32.9% Storage Space Savings via Snappy).</a:t>
            </a:r>
          </a:p>
          <a:p>
            <a:pPr>
              <a:spcBef>
                <a:spcPts val="100"/>
              </a:spcBef>
              <a:defRPr sz="1000">
                <a:solidFill>
                  <a:srgbClr val="CBD5E1"/>
                </a:solidFill>
              </a:defRPr>
            </a:pPr>
            <a:r>
              <a:t>• Index Footprint: 3.15 MB across 44 custom compound B+ tree indexes  |  Cache Hit Ratio Target: &gt;= 99.5%.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12: CRUD Operations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Standardized Data Access Layer with Type Safety &amp; Integrity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12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  <a:latin typeface="Segoe UI"/>
              </a:defRPr>
            </a:pPr>
            <a:r>
              <a:t>CREATE Operations (insert_one, insert_many)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Strict pre-flight validation against JSON schemas prior to transmission.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Bulk operations use ordered and unordered batching with duplicate key exception handling (PyMongo DuplicateKeyError 11000).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Automatic injection of immutable _source_provenance metadata on all inserted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  <a:latin typeface="Segoe UI"/>
              </a:defRPr>
            </a:pPr>
            <a:r>
              <a:t>READ Operations (find_one, find)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High-selectivity point lookups on indexed deterministic natural keys (e.g., {'ceremony_id': 'CEREMONY_065'}).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Precise projection operators ({'_id': 0, 'stage_name': 1, 'primary_musical_genre': 1}) to minimize network bandwidth.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All queries optimized via ESR indexing rules, eliminating memory-based sorting.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  <a:latin typeface="Segoe UI"/>
              </a:defRPr>
            </a:pPr>
            <a:r>
              <a:t>UPDATE Operations (update_one, update_many)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Atomic in-place attribute manipulation using $set, $inc, $push, and $addToSet operators.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Optimistic concurrency control via version checking ({'_id': ..., 'version': current_version}).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Atomic increment counters for aggregate statistics (e.g., total_awards_presented).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  <a:latin typeface="Segoe UI"/>
              </a:defRPr>
            </a:pPr>
            <a:r>
              <a:t>DELETE Operations (delete_one, delete_many)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Referential integrity pre-checks preventing orphan generation before deletion of parent entities.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Comprehensive audit logging capturing deleted document states into nomination_audit_logs.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Soft-delete archiving flags supported for sensitive historical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13: Advanced Querying Capabilities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Complex Logical, Array &amp; Element-Matching Query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13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1. Compound Conditional &amp; Logical Querying ($and, $or, $nor, $in)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Filters ceremonies broadcast on CBS with over 70 awards presented between 1980 and 2000: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4663440" cy="128016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27048"/>
            <a:ext cx="45720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DD3FC"/>
                </a:solidFill>
                <a:latin typeface="Consolas"/>
              </a:defRPr>
            </a:pPr>
            <a:r>
              <a:t>{"$and": [</a:t>
            </a:r>
            <a:br/>
            <a:r>
              <a:t>    {"broadcast_year": {"$gte": 1980, "$lte": 2000}},</a:t>
            </a:r>
            <a:br/>
            <a:r>
              <a:t>    {"$or": [{"primary_network": "CBS"}, {"total_awards_presented": {"$gt": 70}}]}</a:t>
            </a:r>
            <a:br/>
            <a:r>
              <a:t>]}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44952"/>
            <a:ext cx="10728655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2. Nested Array &amp; Element-Level Evaluation ($elemMatch)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Precision filtering over contributor credit arrays matching specific roles and trophy eligibility: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36392"/>
            <a:ext cx="4663440" cy="128016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80"/>
            <a:ext cx="45720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DD3FC"/>
                </a:solidFill>
                <a:latin typeface="Consolas"/>
              </a:defRPr>
            </a:pPr>
            <a:r>
              <a:t>{"nomination_credits": {</a:t>
            </a:r>
            <a:br/>
            <a:r>
              <a:t>    "$elemMatch": {</a:t>
            </a:r>
            <a:br/>
            <a:r>
              <a:t>        "craft_role": "Producer",</a:t>
            </a:r>
            <a:br/>
            <a:r>
              <a:t>        "statuette_eligible": True</a:t>
            </a:r>
            <a:br/>
            <a:r>
              <a:t>    }</a:t>
            </a:r>
            <a:br/>
            <a:r>
              <a:t>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72584"/>
            <a:ext cx="10728655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64024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3. Index-Aware Optimization &amp; ESR Rule Compliance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Compound indexes structured following Equality, Sort, Range order to eliminate in-memory sorting: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764024"/>
            <a:ext cx="4663440" cy="128016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82312"/>
            <a:ext cx="45720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DD3FC"/>
                </a:solidFill>
                <a:latin typeface="Consolas"/>
              </a:defRPr>
            </a:pPr>
            <a:r>
              <a:t>// Compound B+ Tree Index on (category_id: 1, ceremony_year: -1, is_winner: 1)</a:t>
            </a:r>
            <a:br/>
            <a:r>
              <a:t>db.nomination_entries.find({</a:t>
            </a:r>
            <a:br/>
            <a:r>
              <a:t>    "category_id": "CAT_ALBUM_OF_THE_YEAR",</a:t>
            </a:r>
            <a:br/>
            <a:r>
              <a:t>    "is_winner": True</a:t>
            </a:r>
            <a:br/>
            <a:r>
              <a:t>}).sort({"ceremony_year": -1})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14: Complex Aggregation Pipelines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Multi-Stage Analytical Processing Engine (Module 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14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A0F1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18"/>
                </a:solidFill>
              </a:defRPr>
            </a:pPr>
            <a:r>
              <a:t>Historical Victory Distribution Pipeline</a:t>
            </a:r>
          </a:p>
          <a:p>
            <a:pPr>
              <a:spcBef>
                <a:spcPts val="400"/>
              </a:spcBef>
              <a:defRPr sz="950">
                <a:solidFill>
                  <a:srgbClr val="7DD3FC"/>
                </a:solidFill>
                <a:latin typeface="Consolas"/>
              </a:defRPr>
            </a:pPr>
            <a:r>
              <a:t>[</a:t>
            </a:r>
            <a:br/>
            <a:r>
              <a:t>  {"$match": {"is_winner": True}},</a:t>
            </a:r>
            <a:br/>
            <a:r>
              <a:t>  {"$group": {</a:t>
            </a:r>
            <a:br/>
            <a:r>
              <a:t>    "_id": "$primary_artist_id",</a:t>
            </a:r>
            <a:br/>
            <a:r>
              <a:t>    "total_wins": {"$sum": 1},</a:t>
            </a:r>
            <a:br/>
            <a:r>
              <a:t>    "categories_won": {</a:t>
            </a:r>
            <a:br/>
            <a:r>
              <a:t>      "$addToSet": "$category_id"</a:t>
            </a:r>
            <a:br/>
            <a:r>
              <a:t>    },</a:t>
            </a:r>
            <a:br/>
            <a:r>
              <a:t>    "first_win_year": {</a:t>
            </a:r>
            <a:br/>
            <a:r>
              <a:t>      "$min": "$ceremony_year"</a:t>
            </a:r>
            <a:br/>
            <a:r>
              <a:t>    },</a:t>
            </a:r>
            <a:br/>
            <a:r>
              <a:t>    "latest_win_year": {</a:t>
            </a:r>
            <a:br/>
            <a:r>
              <a:t>      "$max": "$ceremony_year"</a:t>
            </a:r>
            <a:br/>
            <a:r>
              <a:t>    }</a:t>
            </a:r>
            <a:br/>
            <a:r>
              <a:t>  }},</a:t>
            </a:r>
            <a:br/>
            <a:r>
              <a:t>  {"$match": {"total_wins": {"$gte": 5}}},</a:t>
            </a:r>
            <a:br/>
            <a:r>
              <a:t>  {"$sort": {"total_wins": -1}}</a:t>
            </a:r>
            <a:br/>
            <a:r>
              <a:t>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Multi-Stage Analytical Capabilities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Multi-Stage Pipeline Operations: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Employs $match, $group, $sort, $project, $unwind, and $facet to process complex award analytics on the database server.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Multi-Faceted Dashboard ($facet):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Computes simultaneous statistical breakdowns across multiple dimensions in a single query pass: genre breakdowns and temporal bucket distributions.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Historical Era Bucketing ($bucket):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Ingestion volumes partitioned into canonical historical eras:</a:t>
            </a:r>
            <a:br/>
            <a:r>
              <a:t>• Early Era: 1959–1970</a:t>
            </a:r>
            <a:br/>
            <a:r>
              <a:t>• Golden Era: 1971–1990</a:t>
            </a:r>
            <a:br/>
            <a:r>
              <a:t>• Modern Era: 1991–2010</a:t>
            </a:r>
            <a:br/>
            <a:r>
              <a:t>• Contemporary: 2011–Present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Index Utilization in Aggregation: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Initial $match and $sort stages utilize compound B+ tree indexes to filter and order documents prior to memory grouping.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15: Transactions &amp; Concurrency Control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Multi-Document ACID Transactions &amp; Concurrency Mechanics (Modules 4 &amp;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15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Multi-Document ACID Transactions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Replica Set Transaction Sessions: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Executed via PyMongo sessions on MongoDB Atlas 3-node replica set (Cluster0) with ReadConcern('snapshot') and WriteConcern('majority').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Official Winner Certification Workflow: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Atomically mutates 3 distinct collections in a single boundary:</a:t>
            </a:r>
            <a:br/>
            <a:r>
              <a:t>1. Update ballot certification flag in controlled_tx_ballots</a:t>
            </a:r>
            <a:br/>
            <a:r>
              <a:t>2. Allocate physical trophy in controlled_tx_trophies</a:t>
            </a:r>
            <a:br/>
            <a:r>
              <a:t>3. Append immutable ledger entry in controlled_tx_audit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Empirical Commit Benchmark: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Achieved an empirical commit latency of 73.42 ms on live Atlas cluster, certified in tests/test_transactions.py.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Rollback Resilience (0 Orphans):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Simulated duplicate key collisions automatically aborted 100% of mutations with zero state leaks or orphan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Concurrency Control &amp; Serializability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Theoretical Locking Protocols: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Formal analysis of Multiple Granularity Locking (MGL - IS, IX, S, SIX, X), Strict 2PL (holding X-locks until commit), and Rigorous 2PL.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Deadlock Detection &amp; Wait-For Graphs: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Implemented Wait-For Graph (WFG) cycle detection algorithm and analyzed Wait-Die vs Wound-Wait victim selection policies.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WiredTiger Lock-Free MVCC: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Contrasts classical 2PL with WiredTiger's lock-free document Multi-Version Concurrency Control (MVCC) and 128 read/write execution tickets.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Live Concurrency Simulation: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Executed 10 concurrent worker threads running 100 rapid atomic increment updates, achieving 0 Lost Updates and 100% serializability.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16: Physical Storage &amp; Crash Recovery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Hardware Hierarchy, Snappy Compression &amp; ARIES Recovery (Modules 6 &amp; 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16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Physical Storage Architecture &amp; RAID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Hardware Access Latency Scale: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Evaluated memory hierarchy: L1 Cache (~1 ns) vs HDD (~10 ms), representing a 10^7 latency factor. Cache hit ratio target &gt;= 99.5%.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RAID Write Penalty Equations: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Analyzed parity calculation penalties: RAID 0 (1 I/O), RAID 1 (2 I/Os), RAID 5 (4 I/Os: 2 reads + 2 writes), RAID 6 (6 I/Os: 3 reads + 3 writes), RAID 10 (2 I/Os).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Slotted-Page Record Architecture: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WiredTiger block format with stable Record IDs, pointer arrays, and automatic page defragmentation.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Snappy Block Compression: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Uncompressed BSON: 4.06 MB -&gt; Compressed On-Disk: 2.72 MB (32.9% net storage savings, verified on Atlas).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Crash Recovery &amp; ARIES Drills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Write-Ahead Logging (WAL) Invariants: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Write-Ahead Undo Rule (undo log flushed before dirty data page) &amp; Commit Redo Rule (redo log flushed before commit ack).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ARIES 3-Phase Recovery Algorithm: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1. Analysis Phase: scans log forward from checkpoint to rebuild Transaction &amp; Dirty Page tables.</a:t>
            </a:r>
            <a:br/>
            <a:r>
              <a:t>2. Redo Phase: repeats history from earliest recLSN.</a:t>
            </a:r>
            <a:br/>
            <a:r>
              <a:t>3. Undo Phase: scans backward, undoing loser transactions with Compensation Log Records (CLRs).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MongoDB Journal &amp; Checkpointing: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100 MB write-ahead journal (WiredTigerLog.*), 60-second periodic fuzzy checkpoints, continuous oplog streaming (RTO &lt;= 30s, RPO &lt;= 1s).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Controlled Disaster Recovery Drill: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Simulated data corruption -&gt; automated restore -&gt; 100% bitwise SHA-256 state parity verified.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17: Comprehensive Validation &amp; Quality Assurance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Automated Test Suite Architecture (670 Passing Tests across 25 Suites)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17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100% Certified Test Suite  |  670 Total Passing Tests across 25 Specialized Suites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Exhaustive automated coverage spanning all 10 academic syllabus modules and all 30 project lifecycle phases.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377440"/>
          <a:ext cx="1072774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31950"/>
                <a:gridCol w="3931920"/>
                <a:gridCol w="1431950"/>
              </a:tblGrid>
              <a:tr h="421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Verification Discipline / Scope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Test Count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Verification Discipline / Scope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Test Count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Schema Validity &amp; Quotas (50 Collections)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120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Concurrency Control, Strict 2PL &amp; Deadlocks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8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Relational Model &amp; Relational Algebra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15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Storage Introspection, Snappy Compression &amp; RAID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6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Functional Dependencies &amp; Normalization (1NF–5NF)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25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WAL Invariants, ARIES Phases &amp; Recovery Drill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6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MongoDB Document Modeling &amp; Denormalization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30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Cross-Database Referential Integrity (0 Orphans)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30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CRUD &amp; Advanced Query Operator Compliance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45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Final Academic Requirements &amp; Security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16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Complex Aggregation Pipelines &amp; Analytics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35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Data Acquisition, Processing Pipeline &amp; Pre-Flight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200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44 Custom B+ Tree Indexes &amp; Explain Plan IXSCAN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88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Presentation &amp; Viva Defense Verification (Phases 29–30)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41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Multi-Document ACID Transactions (Commit &amp; Rollback)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5 tests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C518"/>
                          </a:solidFill>
                        </a:defRPr>
                      </a:pPr>
                      <a:r>
                        <a:t>TOTAL CERTIFIED SYSTEM TEST SUITE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4D399"/>
                          </a:solidFill>
                        </a:defRPr>
                      </a:pPr>
                      <a:r>
                        <a:t>670 PASS (100%)</a:t>
                      </a:r>
                    </a:p>
                  </a:txBody>
                  <a:tcPr>
                    <a:solidFill>
                      <a:srgbClr val="2632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18: Empirical Results &amp; System Achievements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Concrete Technical Accomplishments Verified by Audit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18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1. Multi-Database Deployment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5 autonomous databases active on MongoDB Atlas (Cluster0), hosting 50 collections and 5,190 schema-validated documents with &gt;= 12 fields/doc.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1732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2. Absolute Referential Closure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Audited 11 inter-database foreign key relationships with exactly 0 orphan records (100% closure), certified by automated validation harness.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3. Index Query Transformation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100% conversion of benchmark queries from COLLSCAN to IXSCAN via 44 custom indexes, reducing documents examined by up to 99.8% (from 500 to 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06324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17296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4. Transaction Latency &amp; Atomicity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Multi-document ACID transactions commit in 73.42 ms across 3 collections with zero state leaks or orphan artifacts during simulated rollbacks.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1888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5. Storage &amp; Compression Efficiency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WiredTiger Snappy block compression achieved a 32.9% reduction in physical storage footprint (4.06 MB uncompressed down to 2.72 MB on disk).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4709160"/>
            <a:ext cx="52303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4818888"/>
            <a:ext cx="48646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6. Sub-15ms Join Performance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Client-side distributed batch join federation executes in &lt; 15 ms, successfully overcoming cloud M0 cross-database limitations.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19: System Limitations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Honest Technical Constraints &amp; Architecture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19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1. MongoDB Atlas M0 Free-Tier Restrictions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Shared multi-tenant cluster caps total storage at 512 MB and throttles burst I/O throughput.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Strictly prohibits native server-side cross-database $lookup aggregations (AtlasError 8000), necessitating client-side application join federation.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6304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2. Historical Data Sparsity in Early Eras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Viewership ratings and broadcast household shares for early telecasts (1959–1965) were not systematically recorded by Nielsen Media Research.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Early historical archives contain sparse secondary craft credits (mastering engineers, mixing technicians) compared to modern ceremonies.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3. Cross-Database Join Consistency Trade-off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Application-level joins in PyMongo provide eventual consistency across disparate databases.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Does not natively provide distributed Two-Phase Commit (2PC) guarantees across databases without a dedicated distributed transaction coordinator.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931920"/>
            <a:ext cx="5230368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64608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C518"/>
                </a:solidFill>
              </a:defRPr>
            </a:pPr>
            <a:r>
              <a:t>4. Template Instances in Auxiliary Collections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While primary awards data (500 nominations, 500 works, 400 winners, 120 categories, 67 ceremonies, 300 artists) are authentic historical facts.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• Auxiliary administrative collections (e.g., audit logs, trophy serial numbers) use structured templates to satisfy the strict 50-doc academic quota.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GRAMMY Awards Information &amp; Analytics System  |  ADBMS Graduate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C518"/>
                </a:solidFill>
                <a:latin typeface="Segoe UI"/>
              </a:defRPr>
            </a:pPr>
            <a:r>
              <a:t>Slide 20: Conclusion &amp; Future Scope</a:t>
            </a:r>
          </a:p>
          <a:p>
            <a:pPr>
              <a:spcBef>
                <a:spcPts val="3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Summary of Contributions &amp; Enterprise Evolution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Advanced Database Management Systems (ADBMS)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4AF37"/>
                </a:solidFill>
                <a:latin typeface="Segoe UI"/>
              </a:defRPr>
            </a:pPr>
            <a:r>
              <a:t>Slide 20 of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Summary of Capstone Contributions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Bridging Theory and Practice: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Successfully bridged theoretical database fundamentals (EER modeling, Armstrong's Axioms, BCNF/5NF proofs, ARIES recovery, Strict 2PL serializability) with modern enterprise NoSQL architectures (MongoDB Atlas, WiredTiger MVCC, ACID sessions, compound B+ tree indexing).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Multi-Database Scale &amp; Closure: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Architected, ingested, and certified a 5-database, 50-collection, 5,190-document system with 100% referential closure (0 orphan records) and 0 security vulnerabilities.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Empirical Performance Auditing: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Demonstrated concrete benchmarks: 32.9% storage compression savings, 73.42 ms transaction commit latencies, &lt; 15 ms distributed joins, and 99.8% read scan reduction via indexing.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100% Automated Test Certification: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670 automated pytest tests passing across 25 suites, fully verifying all 10 syllabus modules and 30 project lifecycle phases.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Enterprise Evolution Roadmap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1. Dedicated Cluster Scaling &amp; Sharding: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Migrate from Atlas M0 to a dedicated M10+ replica set with horizontal sharding partitioned by historical era and genre field ranges.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2. Federated GraphQL Gateway Layer: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Deploy an Apollo GraphQL Federation gateway router providing a unified, client-agnostic schema layer across all five autonomous databases.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3. Live Ballot Stream via Change Streams &amp; Kafka: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Integrate MongoDB Change Streams with Apache Kafka for real-time, event-driven voter balloting audit pipelines during active Academy voting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D4AF37"/>
                </a:solidFill>
              </a:defRPr>
            </a:pPr>
            <a:r>
              <a:t>• 4. Vector Embeddings &amp; AI Semantic Search: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Generate dense vector embeddings for nominated musical works to power semantic similarity search, cross-genre recommendations, and AI discography clustering.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